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Onest"/>
      <p:regular r:id="rId201315"/>
    </p:embeddedFont>
    <p:embeddedFont>
      <p:font typeface="Onest SemiBold"/>
      <p:regular r:id="rId201316"/>
    </p:embeddedFont>
    <p:embeddedFont>
      <p:font typeface="Ones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10866"/>
            <a:ext cx="60958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144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ART OF READABLE CODE · CHAPTER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555501"/>
            <a:ext cx="6095848" cy="113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Extracting 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Unrelated</a:t>
            </a:r>
            <a:pPr algn="l" indent="0" marL="0">
              <a:lnSpc>
                <a:spcPct val="85000"/>
              </a:lnSpc>
              <a:buNone/>
            </a:pPr>
            <a:r>
              <a:rPr lang="en-US" sz="4400" b="1" spc="-110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Subproblems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3940274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199037"/>
            <a:ext cx="670543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spc="32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Dustin Boswell &amp; Trevor Foucher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657388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Engineering guide · Writing modular, self-contained functions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028080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40907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CORE PHILOSOPHY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One function should have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one main job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When sub-tasks clutter the primary workflow, decompose and delegate.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226072"/>
            <a:ext cx="5333867" cy="2441079"/>
          </a:xfrm>
          <a:prstGeom prst="roundRect">
            <a:avLst>
              <a:gd name="adj" fmla="val 49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9928" y="2464197"/>
            <a:ext cx="50735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FF6A3D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BEFORE EXTRACTION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9928" y="2700338"/>
            <a:ext cx="48131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One Big Tangled Function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9928" y="3199408"/>
            <a:ext cx="481318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Main logic, trigonometric calculations, payload formatting, and type conversions mixed into a single long scope.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9928" y="3823295"/>
            <a:ext cx="4813080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1" name="Text 9"/>
          <p:cNvSpPr/>
          <p:nvPr/>
        </p:nvSpPr>
        <p:spPr>
          <a:xfrm>
            <a:off x="869928" y="4006017"/>
            <a:ext cx="50735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Hard to skim · Fragile tests · Zero reuse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8244" y="2226072"/>
            <a:ext cx="5333867" cy="2441079"/>
          </a:xfrm>
          <a:prstGeom prst="roundRect">
            <a:avLst>
              <a:gd name="adj" fmla="val 49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8587" y="2464197"/>
            <a:ext cx="5073523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AFTER EXTRACTION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08587" y="2700338"/>
            <a:ext cx="481318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Focused Orchestrator + Helpers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08587" y="3199408"/>
            <a:ext cx="481318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clean high-level function that tells a clear story, delegating isolated mathematical and data chores to pure utilities.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08587" y="4059833"/>
            <a:ext cx="4813080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17" name="Text 15"/>
          <p:cNvSpPr/>
          <p:nvPr/>
        </p:nvSpPr>
        <p:spPr>
          <a:xfrm>
            <a:off x="6508587" y="4242554"/>
            <a:ext cx="5073523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Instant readability · Unit testable · Portable logic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482193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86318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EXTRACTION HEURISTIC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Find the work that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does not belong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straightforward 3-step test to identify extraction candidates.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276872"/>
            <a:ext cx="3454314" cy="2053134"/>
          </a:xfrm>
          <a:prstGeom prst="roundRect">
            <a:avLst>
              <a:gd name="adj" fmla="val 593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4529" y="2486422"/>
            <a:ext cx="821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4529" y="2770882"/>
            <a:ext cx="298432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9" name="Text 7"/>
          <p:cNvSpPr/>
          <p:nvPr/>
        </p:nvSpPr>
        <p:spPr>
          <a:xfrm>
            <a:off x="844529" y="2911773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1. State the main goal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4529" y="3410843"/>
            <a:ext cx="298442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Ask what this block of code is trying to achieve at a high architectural level.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68691" y="2276872"/>
            <a:ext cx="3454314" cy="2053134"/>
          </a:xfrm>
          <a:prstGeom prst="roundRect">
            <a:avLst>
              <a:gd name="adj" fmla="val 593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3635" y="2486422"/>
            <a:ext cx="8553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03635" y="2770882"/>
            <a:ext cx="298432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4" name="Text 12"/>
          <p:cNvSpPr/>
          <p:nvPr/>
        </p:nvSpPr>
        <p:spPr>
          <a:xfrm>
            <a:off x="4603635" y="2911773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2. Inspect every line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03635" y="3410843"/>
            <a:ext cx="298442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Ask whether each statement directly serves that main goal or merely solves an incidental puzzle.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127797" y="2276872"/>
            <a:ext cx="3454314" cy="2053134"/>
          </a:xfrm>
          <a:prstGeom prst="roundRect">
            <a:avLst>
              <a:gd name="adj" fmla="val 5938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2741" y="2486422"/>
            <a:ext cx="86764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62741" y="2770882"/>
            <a:ext cx="298432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9" name="Text 17"/>
          <p:cNvSpPr/>
          <p:nvPr/>
        </p:nvSpPr>
        <p:spPr>
          <a:xfrm>
            <a:off x="8362741" y="2911773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3. Extract the subproblem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2741" y="3410843"/>
            <a:ext cx="298442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If enough lines solve an unrelated subproblem, carve them into an independent helper function.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306381" cy="267295"/>
          </a:xfrm>
          <a:prstGeom prst="roundRect">
            <a:avLst>
              <a:gd name="adj" fmla="val 34209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057"/>
            <a:ext cx="1687371" cy="178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spc="117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CASE STUDY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09585" y="1033693"/>
            <a:ext cx="3931841" cy="805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100" b="1" spc="-78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findClosestLocation()</a:t>
            </a:r>
            <a:pPr algn="l" indent="0" marL="0">
              <a:lnSpc>
                <a:spcPct val="85000"/>
              </a:lnSpc>
              <a:buNone/>
            </a:pPr>
            <a:r>
              <a:rPr lang="en-US" sz="3100" b="1" spc="-78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does two jobs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9585" y="2009577"/>
            <a:ext cx="3931841" cy="977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spcAft>
                <a:spcPts val="1150"/>
              </a:spcAft>
              <a:buNone/>
            </a:pPr>
            <a:r>
              <a:rPr lang="en-US" sz="125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Main Goal:</a:t>
            </a:r>
            <a:pPr algn="l" indent="0" marL="0">
              <a:lnSpc>
                <a:spcPct val="110000"/>
              </a:lnSpc>
              <a:spcAft>
                <a:spcPts val="1150"/>
              </a:spcAft>
              <a:buNone/>
            </a:pPr>
            <a:r>
              <a:rPr lang="en-US" sz="12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Iterate through locations and pick the one closest to a target coordinate.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The Intrusion:</a:t>
            </a:r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Spherical trigonometry clutters the search loop and obscures intent.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585" y="3182144"/>
            <a:ext cx="3931742" cy="19050"/>
          </a:xfrm>
          <a:prstGeom prst="roundRect">
            <a:avLst>
              <a:gd name="adj" fmla="val 49999"/>
            </a:avLst>
          </a:prstGeom>
          <a:solidFill>
            <a:srgbClr val="2B3A8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400555"/>
            <a:ext cx="3931841" cy="347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geometry is completely agnostic to location objects and business context.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55704" y="0"/>
            <a:ext cx="6735991" cy="6858000"/>
          </a:xfrm>
          <a:prstGeom prst="roundRect">
            <a:avLst>
              <a:gd name="adj" fmla="val 1810"/>
            </a:avLst>
          </a:prstGeom>
          <a:solidFill>
            <a:srgbClr val="080E33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0648" y="185649"/>
            <a:ext cx="650104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spc="96" kern="100" dirty="0">
                <a:solidFill>
                  <a:srgbClr val="FF6A3D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// TANGLED: SPHERICAL MATH CLUTTERS SELECTION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90648" y="539651"/>
            <a:ext cx="6266103" cy="6320830"/>
          </a:xfrm>
          <a:prstGeom prst="roundRect">
            <a:avLst>
              <a:gd name="adj" fmla="val 182"/>
            </a:avLst>
          </a:prstGeom>
          <a:solidFill>
            <a:srgbClr val="152060"/>
          </a:solidFill>
          <a:ln/>
        </p:spPr>
      </p:sp>
      <p:sp>
        <p:nvSpPr>
          <p:cNvPr id="11" name="Text 9"/>
          <p:cNvSpPr/>
          <p:nvPr/>
        </p:nvSpPr>
        <p:spPr>
          <a:xfrm>
            <a:off x="5913686" y="725488"/>
            <a:ext cx="5820026" cy="594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findClosestLocation(target, locations)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closest = null, minDistance = Infinity;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loc of locations)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Unrelated subproblem: Spherical distance math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lat1 = target.lat * (Math.PI / 180);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lat2 = loc.lat * (Math.PI / 180);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dLon = (loc.lng - target.lng) * (Math.PI / 180);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dist = Math.acos(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Math.sin(lat1) * Math.sin(lat2) +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Math.cos(lat1) * Math.cos(lat2) * Math.cos(dLon)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* 6371;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(dist &lt; minDistance) {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minDistance = dist;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closest = loc;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closest;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001291" cy="260350"/>
          </a:xfrm>
          <a:prstGeom prst="roundRect">
            <a:avLst>
              <a:gd name="adj" fmla="val 35121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8817"/>
            <a:ext cx="23822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12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REFACTORED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09585" y="1086304"/>
            <a:ext cx="10972526" cy="387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000" b="1" spc="-7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After extraction, the code </a:t>
            </a:r>
            <a:pPr algn="l" indent="0" marL="0">
              <a:lnSpc>
                <a:spcPct val="85000"/>
              </a:lnSpc>
              <a:buNone/>
            </a:pPr>
            <a:r>
              <a:rPr lang="en-US" sz="3000" b="1" spc="-7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reads like a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585" y="1569740"/>
            <a:ext cx="5410065" cy="4982270"/>
          </a:xfrm>
          <a:prstGeom prst="roundRect">
            <a:avLst>
              <a:gd name="adj" fmla="val 2447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30" y="1756833"/>
            <a:ext cx="5200520" cy="140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92" kern="1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// PRIMARY: CLEAR SELECTION STORY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19130" y="2095302"/>
            <a:ext cx="4990975" cy="4071739"/>
          </a:xfrm>
          <a:prstGeom prst="roundRect">
            <a:avLst>
              <a:gd name="adj" fmla="val 281"/>
            </a:avLst>
          </a:prstGeom>
          <a:solidFill>
            <a:srgbClr val="152060"/>
          </a:solidFill>
          <a:ln/>
        </p:spPr>
      </p:sp>
      <p:sp>
        <p:nvSpPr>
          <p:cNvPr id="8" name="Text 6"/>
          <p:cNvSpPr/>
          <p:nvPr/>
        </p:nvSpPr>
        <p:spPr>
          <a:xfrm>
            <a:off x="1033337" y="2273804"/>
            <a:ext cx="4562559" cy="371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findClosestLocation(target, locations)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closest =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minDistance = Infinity;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loc of locations)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dist = sphericalDistance(target, loc);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(dist &lt; minDistance)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minDistance = dist;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closest = loc;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closest;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046" y="1569740"/>
            <a:ext cx="5410065" cy="4982270"/>
          </a:xfrm>
          <a:prstGeom prst="roundRect">
            <a:avLst>
              <a:gd name="adj" fmla="val 2447"/>
            </a:avLst>
          </a:prstGeom>
          <a:solidFill>
            <a:srgbClr val="080E33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1590" y="1756833"/>
            <a:ext cx="5200520" cy="140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92" kern="100" dirty="0">
                <a:solidFill>
                  <a:srgbClr val="BFEB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// EXTRACTED HELPER: PURE &amp; TESTABLE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81590" y="2095302"/>
            <a:ext cx="4990975" cy="3214489"/>
          </a:xfrm>
          <a:prstGeom prst="roundRect">
            <a:avLst>
              <a:gd name="adj" fmla="val 356"/>
            </a:avLst>
          </a:prstGeom>
          <a:solidFill>
            <a:srgbClr val="152060"/>
          </a:solidFill>
          <a:ln/>
        </p:spPr>
      </p:sp>
      <p:sp>
        <p:nvSpPr>
          <p:cNvPr id="12" name="Text 10"/>
          <p:cNvSpPr/>
          <p:nvPr/>
        </p:nvSpPr>
        <p:spPr>
          <a:xfrm>
            <a:off x="6595798" y="2273804"/>
            <a:ext cx="4562559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sphericalDistance(p1, p2)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toRad = deg =&gt; deg * (Math.PI / 180);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lat1 = toRad(p1.lat), lat2 = toRad(p2.lat);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dLon = toRad(p2.lng - p1.lng);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Math.acos(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Math.sin(lat1) * Math.sin(lat2) +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Math.cos(lat1) * Math.cos(lat2) * Math.cos(dLon)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* 6371;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585" y="6690378"/>
            <a:ext cx="10972526" cy="166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7FA6F2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Readable:</a:t>
            </a:r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The reader skims the loop instantly · </a:t>
            </a:r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BFEB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Testable:</a:t>
            </a:r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Geometry can be unit-tested without mock locations · </a:t>
            </a:r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FFC2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Reusable:</a:t>
            </a:r>
            <a:pPr algn="l" indent="0" marL="0">
              <a:lnSpc>
                <a:spcPct val="108000"/>
              </a:lnSpc>
              <a:buNone/>
            </a:pPr>
            <a:r>
              <a:rPr lang="en-US" sz="1000" spc="10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Works for any lat/lng points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167875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548866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REUSABLE UTILITIES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6451439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Turn repeated low-level work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into a utility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222004"/>
            <a:ext cx="6451439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Do not let low-level buffer allocations, file descriptors, and stream handles distract from business operations.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85" y="2923679"/>
            <a:ext cx="645143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Rule of Thumb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422749"/>
            <a:ext cx="6451439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If you often wish the standard library had a specific helper, write it once and share it across the codebase.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585" y="4099024"/>
            <a:ext cx="645143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Self-Descriptive Naming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4598095"/>
            <a:ext cx="645143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 wrapper named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ReadFileToString()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states the outcome directly, hiding boilerplate error checks.</a:t>
            </a:r>
            <a:endParaRPr lang="en-US" sz="13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09585" y="3991074"/>
            <a:ext cx="6451439" cy="12700"/>
          </a:xfrm>
          <a:prstGeom prst="rect">
            <a:avLst/>
          </a:prstGeom>
          <a:solidFill>
            <a:srgbClr val="2B3A8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842844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322383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General-purpose helpers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make intent visible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Isolate presentation, normalization, and wire protocols from workflow coordination.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26072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291187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Ajax Request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410942"/>
            <a:ext cx="251453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Dispatch Ajax query.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14" y="2226072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28914" y="291187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Receive Response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3428914" y="3410942"/>
            <a:ext cx="251453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Get unformatted JSON.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2226072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48244" y="291187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format_pretty(obj)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248244" y="3410942"/>
            <a:ext cx="251453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Extracted subproblem.</a:t>
            </a:r>
            <a:endParaRPr lang="en-US" sz="1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573" y="2226072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67573" y="2911872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Handle Response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9067573" y="3410942"/>
            <a:ext cx="251453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Update the UI view.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09585" y="3825280"/>
            <a:ext cx="10972526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50"/>
              </a:spcAft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Understand · Test · Improve · Reuse · Handle edge cases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Wrap formatting complexity so the calling code can stay about the response.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814864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19585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090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Hide ugly interfaces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behind clean wrappers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5372"/>
            <a:ext cx="1097252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Browser cookies are a good example of complicated implementation details.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09585" y="2226072"/>
            <a:ext cx="3454314" cy="2610842"/>
          </a:xfrm>
          <a:prstGeom prst="roundRect">
            <a:avLst>
              <a:gd name="adj" fmla="val 467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4529" y="2435622"/>
            <a:ext cx="2984425" cy="610592"/>
          </a:xfrm>
          <a:prstGeom prst="rect">
            <a:avLst/>
          </a:prstGeom>
          <a:solidFill>
            <a:srgbClr val="0D174F"/>
          </a:solidFill>
          <a:ln/>
        </p:spPr>
      </p:sp>
      <p:sp>
        <p:nvSpPr>
          <p:cNvPr id="8" name="Shape 6"/>
          <p:cNvSpPr/>
          <p:nvPr/>
        </p:nvSpPr>
        <p:spPr>
          <a:xfrm>
            <a:off x="844529" y="3033514"/>
            <a:ext cx="2984425" cy="12700"/>
          </a:xfrm>
          <a:prstGeom prst="rect">
            <a:avLst/>
          </a:prstGeom>
          <a:solidFill>
            <a:srgbClr val="454F87"/>
          </a:solidFill>
          <a:ln/>
        </p:spPr>
      </p:sp>
      <p:sp>
        <p:nvSpPr>
          <p:cNvPr id="9" name="Text 7"/>
          <p:cNvSpPr/>
          <p:nvPr/>
        </p:nvSpPr>
        <p:spPr>
          <a:xfrm>
            <a:off x="1506996" y="2588022"/>
            <a:ext cx="2268977" cy="29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get_cookie(name)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4529" y="3125589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4529" y="3624659"/>
            <a:ext cx="2984425" cy="722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Encapsulates semicolon splitting, key decoding, and trimming from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document.cookie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68691" y="2226072"/>
            <a:ext cx="3454314" cy="2610842"/>
          </a:xfrm>
          <a:prstGeom prst="roundRect">
            <a:avLst>
              <a:gd name="adj" fmla="val 467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635" y="2435622"/>
            <a:ext cx="2984425" cy="903684"/>
          </a:xfrm>
          <a:prstGeom prst="rect">
            <a:avLst/>
          </a:prstGeom>
          <a:solidFill>
            <a:srgbClr val="0D174F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3635" y="3326606"/>
            <a:ext cx="2984425" cy="12700"/>
          </a:xfrm>
          <a:prstGeom prst="rect">
            <a:avLst/>
          </a:prstGeom>
          <a:solidFill>
            <a:srgbClr val="454F8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6031" y="2588022"/>
            <a:ext cx="2679633" cy="58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set_cookie(name, value, days)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3635" y="3418681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Write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3635" y="3917752"/>
            <a:ext cx="298442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Encapsulates max-age math, date conversions, URL encoding, and path defaults cleanly.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27797" y="2226072"/>
            <a:ext cx="3454314" cy="2610842"/>
          </a:xfrm>
          <a:prstGeom prst="roundRect">
            <a:avLst>
              <a:gd name="adj" fmla="val 467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2741" y="2435622"/>
            <a:ext cx="2984425" cy="610592"/>
          </a:xfrm>
          <a:prstGeom prst="rect">
            <a:avLst/>
          </a:prstGeom>
          <a:solidFill>
            <a:srgbClr val="0D174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62741" y="3033514"/>
            <a:ext cx="2984425" cy="12700"/>
          </a:xfrm>
          <a:prstGeom prst="rect">
            <a:avLst/>
          </a:prstGeom>
          <a:solidFill>
            <a:srgbClr val="454F87"/>
          </a:solidFill>
          <a:ln/>
        </p:spPr>
      </p:sp>
      <p:sp>
        <p:nvSpPr>
          <p:cNvPr id="21" name="Text 19"/>
          <p:cNvSpPr/>
          <p:nvPr/>
        </p:nvSpPr>
        <p:spPr>
          <a:xfrm>
            <a:off x="8878467" y="2588022"/>
            <a:ext cx="2562459" cy="29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delete_cookie(name)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62741" y="3125589"/>
            <a:ext cx="29844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Remove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2741" y="3624659"/>
            <a:ext cx="2984425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Abstracts the non-intuitive convention of setting the expiration timestamp into the past.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9585" y="5014714"/>
            <a:ext cx="11582110" cy="293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Expose a small interface; keep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highlight>
                  <a:srgbClr val="15206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document.cookie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handling inside.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969889"/>
            <a:ext cx="3076498" cy="283865"/>
          </a:xfrm>
          <a:prstGeom prst="roundRect">
            <a:avLst>
              <a:gd name="adj" fmla="val 32212"/>
            </a:avLst>
          </a:prstGeom>
          <a:noFill/>
          <a:ln w="6350">
            <a:solidFill>
              <a:srgbClr val="FF6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3882" y="2018288"/>
            <a:ext cx="345748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FF6A3D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OVER-ENGINEERING WARNING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2411814"/>
            <a:ext cx="4328111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Do not extract until the code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gets clearer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3502918"/>
            <a:ext cx="4328111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Extraction is not free. Creating too many one-line wrappers forces readers to hop through files to follow basic 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9585" y="4439543"/>
            <a:ext cx="4328012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4698464"/>
            <a:ext cx="4937696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spc="11" kern="1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Extraction should reduce mental load, not multiply call stacks.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1974" y="0"/>
            <a:ext cx="6339721" cy="6858000"/>
          </a:xfrm>
          <a:prstGeom prst="roundRect">
            <a:avLst>
              <a:gd name="adj" fmla="val 1923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37717" y="1371104"/>
            <a:ext cx="6053978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spc="105" kern="100" dirty="0">
                <a:solidFill>
                  <a:srgbClr val="FF6A3D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THE PITFALL: CALL TUNNELING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37717" y="1756470"/>
            <a:ext cx="5768235" cy="1706563"/>
          </a:xfrm>
          <a:prstGeom prst="roundRect">
            <a:avLst>
              <a:gd name="adj" fmla="val 670"/>
            </a:avLst>
          </a:prstGeom>
          <a:solidFill>
            <a:srgbClr val="152060"/>
          </a:solidFill>
          <a:ln/>
        </p:spPr>
      </p:sp>
      <p:sp>
        <p:nvSpPr>
          <p:cNvPr id="11" name="Text 9"/>
          <p:cNvSpPr/>
          <p:nvPr/>
        </p:nvSpPr>
        <p:spPr>
          <a:xfrm>
            <a:off x="6381491" y="1959670"/>
            <a:ext cx="5280687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url_safe_encrypt_obj(obj)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url_safe_encrypt_str(str)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encrypt(data)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└── make_cipher()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37717" y="3818632"/>
            <a:ext cx="576823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Know the Boundary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37717" y="4317702"/>
            <a:ext cx="5768235" cy="1172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7FA6F2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Useful Extraction:</a:t>
            </a:r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Separates a truly independent domain (math, serialization, parsing).</a:t>
            </a:r>
            <a:endParaRPr lang="en-US" sz="1600" dirty="0"/>
          </a:p>
          <a:p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Fragmentation:</a:t>
            </a:r>
            <a:pPr algn="l" marL="325120" indent="-32512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Arbitrarily slicing a simple 10-line sequence into five micro-functions.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035149"/>
            <a:ext cx="2450344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083548"/>
            <a:ext cx="2831335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28" kern="100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SUMMARY &amp;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55645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Keep the main code </a:t>
            </a:r>
            <a:pPr algn="l" indent="0" marL="0">
              <a:lnSpc>
                <a:spcPct val="85000"/>
              </a:lnSpc>
              <a:buNone/>
            </a:pPr>
            <a:r>
              <a:rPr lang="en-US" sz="3400" b="1" spc="-85" kern="10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focused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130921"/>
            <a:ext cx="2628834" cy="1469926"/>
          </a:xfrm>
          <a:prstGeom prst="roundRect">
            <a:avLst>
              <a:gd name="adj" fmla="val 8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365871"/>
            <a:ext cx="821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4529" y="2650331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8" name="Text 6"/>
          <p:cNvSpPr/>
          <p:nvPr/>
        </p:nvSpPr>
        <p:spPr>
          <a:xfrm>
            <a:off x="844529" y="2748756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Identify main goal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90815" y="2130921"/>
            <a:ext cx="2628834" cy="1469926"/>
          </a:xfrm>
          <a:prstGeom prst="roundRect">
            <a:avLst>
              <a:gd name="adj" fmla="val 8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5759" y="2365871"/>
            <a:ext cx="8553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25759" y="2650331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2" name="Text 10"/>
          <p:cNvSpPr/>
          <p:nvPr/>
        </p:nvSpPr>
        <p:spPr>
          <a:xfrm>
            <a:off x="3625759" y="2748756"/>
            <a:ext cx="215894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Find unrelated work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72046" y="2130921"/>
            <a:ext cx="2628834" cy="1469926"/>
          </a:xfrm>
          <a:prstGeom prst="roundRect">
            <a:avLst>
              <a:gd name="adj" fmla="val 8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6990" y="2365871"/>
            <a:ext cx="86764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6990" y="2650331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6990" y="2748756"/>
            <a:ext cx="215894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 helper functions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953276" y="2130921"/>
            <a:ext cx="2628834" cy="1469926"/>
          </a:xfrm>
          <a:prstGeom prst="roundRect">
            <a:avLst>
              <a:gd name="adj" fmla="val 8294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8220" y="2365871"/>
            <a:ext cx="8732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88220" y="2650331"/>
            <a:ext cx="2158946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0" name="Text 18"/>
          <p:cNvSpPr/>
          <p:nvPr/>
        </p:nvSpPr>
        <p:spPr>
          <a:xfrm>
            <a:off x="9188220" y="2748756"/>
            <a:ext cx="215894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Keep main logic simple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09585" y="3804047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2" name="Text 20"/>
          <p:cNvSpPr/>
          <p:nvPr/>
        </p:nvSpPr>
        <p:spPr>
          <a:xfrm>
            <a:off x="838179" y="4051697"/>
            <a:ext cx="20573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Readable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428914" y="3804047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509" y="4051697"/>
            <a:ext cx="20573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Testable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48244" y="3804047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6" name="Text 24"/>
          <p:cNvSpPr/>
          <p:nvPr/>
        </p:nvSpPr>
        <p:spPr>
          <a:xfrm>
            <a:off x="6476838" y="4051697"/>
            <a:ext cx="20573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Reusable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67573" y="3804047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8" name="Text 26"/>
          <p:cNvSpPr/>
          <p:nvPr/>
        </p:nvSpPr>
        <p:spPr>
          <a:xfrm>
            <a:off x="9296167" y="4051697"/>
            <a:ext cx="20573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Maintainable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09585" y="4792067"/>
            <a:ext cx="10972526" cy="1030684"/>
          </a:xfrm>
          <a:prstGeom prst="roundRect">
            <a:avLst>
              <a:gd name="adj" fmla="val 11829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4529" y="5027017"/>
            <a:ext cx="1050263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Keep the main code focused on what the program is trying to do, and move unrelated details into well-named helper functions.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2026-10-19T01:02:10Z</dcterms:created>
  <dcterms:modified xsi:type="dcterms:W3CDTF">2026-10-19T01:02:10Z</dcterms:modified>
</cp:coreProperties>
</file>